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2847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0F2847"/>
                </a:solidFill>
                <a:latin typeface="Georgia"/>
              </a:rPr>
              <a:t>Test-set Accuracy &amp; Weighted F1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0B4A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8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Logistic Regression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63.2</c:v>
                </c:pt>
                <c:pt idx="1">
                  <c:v>57.9</c:v>
                </c:pt>
                <c:pt idx="2">
                  <c:v>64.9</c:v>
                </c:pt>
                <c:pt idx="3">
                  <c:v>63.2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(weighted)</c:v>
                </c:pt>
              </c:strCache>
            </c:strRef>
          </c:tx>
          <c:spPr>
            <a:solidFill>
              <a:srgbClr val="F5B40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F28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Random Forest</c:v>
                  </c:pt>
                  <c:pt idx="1">
                    <c:v>XGBoost</c:v>
                  </c:pt>
                  <c:pt idx="2">
                    <c:v>Logistic Regression</c:v>
                  </c:pt>
                  <c:pt idx="3">
                    <c:v>KNN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62.1</c:v>
                </c:pt>
                <c:pt idx="1">
                  <c:v>57.6</c:v>
                </c:pt>
                <c:pt idx="2">
                  <c:v>65</c:v>
                </c:pt>
                <c:pt idx="3">
                  <c:v>61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000" u="none">
                  <a:solidFill>
                    <a:srgbClr val="0F28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1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1E293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365760"/>
            <a:ext cx="128016" cy="128016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65760"/>
            <a:ext cx="128016" cy="128016"/>
          </a:xfrm>
          <a:prstGeom prst="ellipse">
            <a:avLst/>
          </a:prstGeom>
          <a:solidFill>
            <a:srgbClr val="F5B400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757589" y="713232"/>
            <a:ext cx="128016" cy="128016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724971" y="713232"/>
            <a:ext cx="128016" cy="128016"/>
          </a:xfrm>
          <a:prstGeom prst="ellipse">
            <a:avLst/>
          </a:prstGeom>
          <a:solidFill>
            <a:srgbClr val="F5B400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1093537" y="1060704"/>
            <a:ext cx="128016" cy="128016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89023" y="1060704"/>
            <a:ext cx="128016" cy="128016"/>
          </a:xfrm>
          <a:prstGeom prst="ellipse">
            <a:avLst/>
          </a:prstGeom>
          <a:solidFill>
            <a:srgbClr val="F5B400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1131766" y="1408176"/>
            <a:ext cx="128016" cy="128016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350794" y="1408176"/>
            <a:ext cx="128016" cy="128016"/>
          </a:xfrm>
          <a:prstGeom prst="ellipse">
            <a:avLst/>
          </a:prstGeom>
          <a:solidFill>
            <a:srgbClr val="F5B400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858924" y="1755648"/>
            <a:ext cx="128016" cy="128016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623636" y="1755648"/>
            <a:ext cx="128016" cy="128016"/>
          </a:xfrm>
          <a:prstGeom prst="ellipse">
            <a:avLst/>
          </a:prstGeom>
          <a:solidFill>
            <a:srgbClr val="F5B400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370320" y="2103120"/>
            <a:ext cx="128016" cy="128016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112240" y="2103120"/>
            <a:ext cx="128016" cy="128016"/>
          </a:xfrm>
          <a:prstGeom prst="ellipse">
            <a:avLst/>
          </a:prstGeom>
          <a:solidFill>
            <a:srgbClr val="F5B400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836639" y="2450592"/>
            <a:ext cx="128016" cy="128016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645921" y="2450592"/>
            <a:ext cx="128016" cy="128016"/>
          </a:xfrm>
          <a:prstGeom prst="ellipse">
            <a:avLst/>
          </a:prstGeom>
          <a:solidFill>
            <a:srgbClr val="F5B400">
              <a:alpha val="3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444311" y="2798064"/>
            <a:ext cx="128016" cy="128016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038249" y="2798064"/>
            <a:ext cx="128016" cy="128016"/>
          </a:xfrm>
          <a:prstGeom prst="ellipse">
            <a:avLst/>
          </a:prstGeom>
          <a:solidFill>
            <a:srgbClr val="F5B40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330387" y="3145536"/>
            <a:ext cx="128016" cy="128016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1152173" y="3145536"/>
            <a:ext cx="128016" cy="128016"/>
          </a:xfrm>
          <a:prstGeom prst="ellipse">
            <a:avLst/>
          </a:prstGeom>
          <a:solidFill>
            <a:srgbClr val="F5B400">
              <a:alpha val="5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534664" y="3493008"/>
            <a:ext cx="128016" cy="128016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947896" y="3493008"/>
            <a:ext cx="128016" cy="128016"/>
          </a:xfrm>
          <a:prstGeom prst="ellipse">
            <a:avLst/>
          </a:prstGeom>
          <a:solidFill>
            <a:srgbClr val="F5B400">
              <a:alpha val="4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985782" y="3840480"/>
            <a:ext cx="128016" cy="128016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496778" y="3840480"/>
            <a:ext cx="128016" cy="128016"/>
          </a:xfrm>
          <a:prstGeom prst="ellipse">
            <a:avLst/>
          </a:prstGeom>
          <a:solidFill>
            <a:srgbClr val="F5B400">
              <a:alpha val="3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10526153" y="4187952"/>
            <a:ext cx="128016" cy="128016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956407" y="4187952"/>
            <a:ext cx="128016" cy="128016"/>
          </a:xfrm>
          <a:prstGeom prst="ellipse">
            <a:avLst/>
          </a:prstGeom>
          <a:solidFill>
            <a:srgbClr val="F5B400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967010" y="4535424"/>
            <a:ext cx="128016" cy="128016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515550" y="4535424"/>
            <a:ext cx="128016" cy="128016"/>
          </a:xfrm>
          <a:prstGeom prst="ellipse">
            <a:avLst/>
          </a:prstGeom>
          <a:solidFill>
            <a:srgbClr val="F5B400">
              <a:alpha val="5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1154348" y="4882896"/>
            <a:ext cx="128016" cy="128016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9328212" y="4882896"/>
            <a:ext cx="128016" cy="128016"/>
          </a:xfrm>
          <a:prstGeom prst="ellipse">
            <a:avLst/>
          </a:prstGeom>
          <a:solidFill>
            <a:srgbClr val="F5B400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1022725" y="5230368"/>
            <a:ext cx="128016" cy="128016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459835" y="5230368"/>
            <a:ext cx="128016" cy="128016"/>
          </a:xfrm>
          <a:prstGeom prst="ellipse">
            <a:avLst/>
          </a:prstGeom>
          <a:solidFill>
            <a:srgbClr val="F5B400">
              <a:alpha val="3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618121" y="5577840"/>
            <a:ext cx="128016" cy="128016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9864439" y="5577840"/>
            <a:ext cx="128016" cy="128016"/>
          </a:xfrm>
          <a:prstGeom prst="ellipse">
            <a:avLst/>
          </a:prstGeom>
          <a:solidFill>
            <a:srgbClr val="F5B400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081876" y="5925312"/>
            <a:ext cx="128016" cy="128016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0400684" y="5925312"/>
            <a:ext cx="128016" cy="128016"/>
          </a:xfrm>
          <a:prstGeom prst="ellipse">
            <a:avLst/>
          </a:prstGeom>
          <a:solidFill>
            <a:srgbClr val="F5B400">
              <a:alpha val="5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9601315" y="6272784"/>
            <a:ext cx="128016" cy="128016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881245" y="6272784"/>
            <a:ext cx="128016" cy="128016"/>
          </a:xfrm>
          <a:prstGeom prst="ellipse">
            <a:avLst/>
          </a:prstGeom>
          <a:solidFill>
            <a:srgbClr val="F5B400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1005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BA870 / AC820  •  FINANCIAL &amp; ACCOUNTING ANALYTICS  •  SPRING 2026</a:t>
            </a:r>
            <a:endParaRPr lang="en-US" sz="1100" dirty="0"/>
          </a:p>
        </p:txBody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822960" cy="82296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31520" y="23774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DNA</a:t>
            </a:r>
            <a:endParaRPr lang="en-US" sz="7200" dirty="0"/>
          </a:p>
        </p:txBody>
      </p:sp>
      <p:sp>
        <p:nvSpPr>
          <p:cNvPr id="41" name="Text 38"/>
          <p:cNvSpPr/>
          <p:nvPr/>
        </p:nvSpPr>
        <p:spPr>
          <a:xfrm>
            <a:off x="73152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Decode Any Company's Financial Fingerprint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731520" y="4297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machine-learning app that classifies industry, finds peers, and compares companies using 10 common-size financial ratios.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731520" y="5394960"/>
            <a:ext cx="1097280" cy="4572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44" name="Text 41"/>
          <p:cNvSpPr/>
          <p:nvPr/>
        </p:nvSpPr>
        <p:spPr>
          <a:xfrm>
            <a:off x="73152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73152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Howard Mckeon   •   Joshua Hartono   •   Adam Schuler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Company Has a Financial Fingerprint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109728" cy="4206240"/>
          </a:xfrm>
          <a:prstGeom prst="rect">
            <a:avLst/>
          </a:prstGeom>
          <a:solidFill>
            <a:srgbClr val="E05656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5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Financials are noisy and hard to compare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200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financials are scale-dependent — Apple's $400B revenue doesn't compare to a small-cap.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GICS industry labels are coarse and often mislead — Amazon is "Consumer Discretionary," but half its profit is cloud.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true peers for benchmarking or valuation takes hours of manual ratio work.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need a fast, data-driven way to ask: what does a company actually look like?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394960" cy="420624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279400" dist="508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828800"/>
            <a:ext cx="109728" cy="420624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2011680"/>
            <a:ext cx="640080" cy="6400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37960" y="2011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537960" y="23317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Normalize. Classify. Compare.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537960" y="320040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every 10-K into 10 common-size ratios — a size-agnostic "financial DNA" vector.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four ML classifiers (RF, XGBoost, LogReg, KNN) to map ratios → GICS sector.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distance in ratio-space to surface true peers — no industry label required.</a:t>
            </a:r>
            <a:endParaRPr lang="en-US" sz="1300" dirty="0"/>
          </a:p>
          <a:p>
            <a:pPr marL="342900" indent="-342900">
              <a:buSzPct val="100000"/>
              <a:buChar char="■"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a free, interactive Streamlit app — just enter a ticker.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 —  LIVE DEMO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Pages, One Ticker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solidFill>
            <a:srgbClr val="0F28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105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37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4-minute recorded walkthrough of the live Streamlit app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46888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468880"/>
            <a:ext cx="73152" cy="196596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2491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6700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Classifier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30632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 •  XGBoost  •  LogReg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914400" y="34290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ticker → ML predicts its GICS sector from 10 ratios, with confidence scores and a radar chart vs. sector average.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246888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2468880"/>
            <a:ext cx="73152" cy="196596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724912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32320" y="267004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Peer Finder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7132320" y="30632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 •  PCA  •  Cosine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92240" y="34290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distance in standardized ratio-space surfaces the 10 most similar companies — plus a PCA map of the whole universe.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0080" y="4572000"/>
            <a:ext cx="73152" cy="196596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28032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7731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Company Comparison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554480" y="51663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Radar  •  Distance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914400" y="55321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Head-to-head dual radar, Euclidean distance, similarity score, and a ratio-by-ratio delta table between any two tickers.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17920" y="4572000"/>
            <a:ext cx="53492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17920" y="4572000"/>
            <a:ext cx="73152" cy="196596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828032"/>
            <a:ext cx="502920" cy="5029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32320" y="4773168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</a:t>
            </a:r>
            <a:endParaRPr lang="en-US" sz="1800" dirty="0"/>
          </a:p>
        </p:txBody>
      </p:sp>
      <p:sp>
        <p:nvSpPr>
          <p:cNvPr id="29" name="Text 22"/>
          <p:cNvSpPr/>
          <p:nvPr/>
        </p:nvSpPr>
        <p:spPr>
          <a:xfrm>
            <a:off x="7132320" y="51663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 •  Explainability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2240" y="55321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weighted F1, confusion matrix, per-sector precision/recall, and feature importance for all four models.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2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 — From 10-Ks to Training 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514600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SOURCES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3152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yfinance + S&amp;P 500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&amp; balance sheet pulled live from Yahoo Finance for 300+ S&amp;P 500 tickers. Public-domain only.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7203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566160" y="182880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566160" y="1828800"/>
            <a:ext cx="2514600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20574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340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NORMALIZE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74904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Common-Size Ratios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74904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line item scaled by Revenue or Total Assets → 10 ratios per company, size-independent.</a:t>
            </a:r>
            <a:endParaRPr lang="en-US" sz="10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048" y="2720340"/>
            <a:ext cx="274320" cy="2743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583680" y="182880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583680" y="1828800"/>
            <a:ext cx="2514600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2057400"/>
            <a:ext cx="502920" cy="5029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6092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CLEAN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676656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Impute &amp; Winsorize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76656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Sector-median imputation for missing values; clip outliers at ±3σ to stabilize model training.</a:t>
            </a:r>
            <a:endParaRPr lang="en-US" sz="10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16568" y="2720340"/>
            <a:ext cx="274320" cy="27432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601200" y="1828800"/>
            <a:ext cx="251460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9601200" y="1828800"/>
            <a:ext cx="2514600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4080" y="2057400"/>
            <a:ext cx="502920" cy="5029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0378440" y="21031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LABEL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9784080" y="2651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GICS Sector Target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9784080" y="306324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tagged with its GICS sector (11 classes) and sub-industry (37). Stratified 80/20 split.</a:t>
            </a:r>
            <a:endParaRPr lang="en-US" sz="1050" dirty="0"/>
          </a:p>
        </p:txBody>
      </p:sp>
      <p:sp>
        <p:nvSpPr>
          <p:cNvPr id="31" name="Shape 22"/>
          <p:cNvSpPr/>
          <p:nvPr/>
        </p:nvSpPr>
        <p:spPr>
          <a:xfrm>
            <a:off x="335128" y="4297680"/>
            <a:ext cx="2194560" cy="13716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335128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285</a:t>
            </a:r>
            <a:endParaRPr lang="en-US" sz="3600" dirty="0"/>
          </a:p>
        </p:txBody>
      </p:sp>
      <p:sp>
        <p:nvSpPr>
          <p:cNvPr id="33" name="Text 24"/>
          <p:cNvSpPr/>
          <p:nvPr/>
        </p:nvSpPr>
        <p:spPr>
          <a:xfrm>
            <a:off x="426568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 training DB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2666848" y="4297680"/>
            <a:ext cx="2194560" cy="13716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2666848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36" name="Text 27"/>
          <p:cNvSpPr/>
          <p:nvPr/>
        </p:nvSpPr>
        <p:spPr>
          <a:xfrm>
            <a:off x="2758288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GICS sectors (classes)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4998568" y="4297680"/>
            <a:ext cx="2194560" cy="13716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8" name="Text 29"/>
          <p:cNvSpPr/>
          <p:nvPr/>
        </p:nvSpPr>
        <p:spPr>
          <a:xfrm>
            <a:off x="4998568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</a:t>
            </a:r>
            <a:endParaRPr lang="en-US" sz="3600" dirty="0"/>
          </a:p>
        </p:txBody>
      </p:sp>
      <p:sp>
        <p:nvSpPr>
          <p:cNvPr id="39" name="Text 30"/>
          <p:cNvSpPr/>
          <p:nvPr/>
        </p:nvSpPr>
        <p:spPr>
          <a:xfrm>
            <a:off x="5090008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Sub-industries covered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7330288" y="4297680"/>
            <a:ext cx="2194560" cy="13716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Text 32"/>
          <p:cNvSpPr/>
          <p:nvPr/>
        </p:nvSpPr>
        <p:spPr>
          <a:xfrm>
            <a:off x="7330288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600" dirty="0"/>
          </a:p>
        </p:txBody>
      </p:sp>
      <p:sp>
        <p:nvSpPr>
          <p:cNvPr id="42" name="Text 33"/>
          <p:cNvSpPr/>
          <p:nvPr/>
        </p:nvSpPr>
        <p:spPr>
          <a:xfrm>
            <a:off x="7421728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Common-size ratio features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9662008" y="4297680"/>
            <a:ext cx="2194560" cy="13716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9662008" y="44348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3600" dirty="0"/>
          </a:p>
        </p:txBody>
      </p:sp>
      <p:sp>
        <p:nvSpPr>
          <p:cNvPr id="45" name="Text 36"/>
          <p:cNvSpPr/>
          <p:nvPr/>
        </p:nvSpPr>
        <p:spPr>
          <a:xfrm>
            <a:off x="9753448" y="5166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train/test split</a:t>
            </a:r>
            <a:endParaRPr lang="en-US" sz="1000" dirty="0"/>
          </a:p>
        </p:txBody>
      </p:sp>
      <p:sp>
        <p:nvSpPr>
          <p:cNvPr id="46" name="Text 37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S&amp;P 500 companies  •  Training data from real industry financial profiles via yfinance  •  Fully public-domain and reproducible.</a:t>
            </a:r>
            <a:endParaRPr lang="en-US" sz="1100" dirty="0"/>
          </a:p>
        </p:txBody>
      </p:sp>
      <p:sp>
        <p:nvSpPr>
          <p:cNvPr id="47" name="Shape 38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8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 Common-Size Ratios = The DNA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931920" cy="4343400"/>
          </a:xfrm>
          <a:prstGeom prst="rect">
            <a:avLst/>
          </a:prstGeom>
          <a:solidFill>
            <a:srgbClr val="0F2847"/>
          </a:solidFill>
          <a:ln/>
          <a:effectLst>
            <a:outerShdw sx="100000" sy="100000" kx="0" ky="0" algn="bl" rotWithShape="0" blurRad="279400" dist="50800" dir="54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788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common-size?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246120"/>
            <a:ext cx="3520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Dividing each line item by Revenue (income statement) or Total Assets (balance sheet) removes company-size effects.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10-D vector captures cost structure, profitability, liquidity, asset mix, and leverage.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 whether the company is $5M or $500B — perfect for cross-sectional ML.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46320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10 Features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846320" y="2194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accounting dimension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260604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2606040"/>
            <a:ext cx="73152" cy="13258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Text 9"/>
          <p:cNvSpPr/>
          <p:nvPr/>
        </p:nvSpPr>
        <p:spPr>
          <a:xfrm>
            <a:off x="507492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7492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12480" y="260604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412480" y="2606040"/>
            <a:ext cx="73152" cy="13258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6" name="Text 13"/>
          <p:cNvSpPr/>
          <p:nvPr/>
        </p:nvSpPr>
        <p:spPr>
          <a:xfrm>
            <a:off x="8641080" y="2743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641080" y="3063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/ Revenue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SG&amp;A / Revenue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846320" y="411480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4114800"/>
            <a:ext cx="73152" cy="132588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0" name="Text 17"/>
          <p:cNvSpPr/>
          <p:nvPr/>
        </p:nvSpPr>
        <p:spPr>
          <a:xfrm>
            <a:off x="507492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07492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/ Assets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8412480" y="411480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412480" y="4114800"/>
            <a:ext cx="73152" cy="1325880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24" name="Text 21"/>
          <p:cNvSpPr/>
          <p:nvPr/>
        </p:nvSpPr>
        <p:spPr>
          <a:xfrm>
            <a:off x="8641080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CAPITAL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41080" y="4572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Receivables / Assets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/ Assets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846320" y="562356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4846320" y="5623560"/>
            <a:ext cx="73152" cy="1325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MIX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074920" y="6080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 / Assets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8412480" y="5623560"/>
            <a:ext cx="338328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412480" y="5623560"/>
            <a:ext cx="73152" cy="132588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2" name="Text 29"/>
          <p:cNvSpPr/>
          <p:nvPr/>
        </p:nvSpPr>
        <p:spPr>
          <a:xfrm>
            <a:off x="864108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641080" y="60807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/ Assets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/ Assets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 &amp; ENSEMBLE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Models, One Task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classifier sees the same 10-D standardized ratio vector and predicts 1-of-11 GICS sectors. We train all four so users can compare approaches and understand where simple baselines fail.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440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468880"/>
            <a:ext cx="544068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743200"/>
            <a:ext cx="502920" cy="50292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54480" y="27249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classifier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n=200 trees  •  max_depth=15  •  class_weight=balanced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non-linear sector boundaries; provides feature-importance for explainability.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2468880"/>
            <a:ext cx="5440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2468880"/>
            <a:ext cx="5440680" cy="73152"/>
          </a:xfrm>
          <a:prstGeom prst="rect">
            <a:avLst/>
          </a:prstGeom>
          <a:solidFill>
            <a:srgbClr val="F5B4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583680" y="2743200"/>
            <a:ext cx="502920" cy="50292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743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0" y="272491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303580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benchmark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33832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n=200  •  lr=0.1  •  max_depth=8  •  subsample=0.8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0" y="367588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 on weighted F1 — better at rare sectors like Real Estate (n=3).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434840"/>
            <a:ext cx="5440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4434840"/>
            <a:ext cx="544068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4709160"/>
            <a:ext cx="502920" cy="50292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54480" y="46908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554480" y="5001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14400" y="53492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multinomial  •  L2  •  lbfgs  •  max_iter=2000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5641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floor — shows how much non-linearity the tree models add.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4434840"/>
            <a:ext cx="5440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434840"/>
            <a:ext cx="544068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1" name="Shape 29"/>
          <p:cNvSpPr/>
          <p:nvPr/>
        </p:nvSpPr>
        <p:spPr>
          <a:xfrm>
            <a:off x="6583680" y="4709160"/>
            <a:ext cx="502920" cy="502920"/>
          </a:xfrm>
          <a:prstGeom prst="ellipse">
            <a:avLst/>
          </a:prstGeom>
          <a:solidFill>
            <a:srgbClr val="0F2847"/>
          </a:solidFill>
          <a:ln/>
        </p:spPr>
      </p:sp>
      <p:sp>
        <p:nvSpPr>
          <p:cNvPr id="32" name="Text 30"/>
          <p:cNvSpPr/>
          <p:nvPr/>
        </p:nvSpPr>
        <p:spPr>
          <a:xfrm>
            <a:off x="6583680" y="4709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23760" y="4690872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23760" y="500176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Peer-finder engine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53492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k=10  •  distance-weighted  •  Euclidean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641848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Doubles as the Peer Finder: nearest ratios = most similar financial DNA.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on Held-Out Test Set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82880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589520" y="1828800"/>
            <a:ext cx="91440" cy="1234440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01168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0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Winner: Logistic Regression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772400" y="2423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on both accuracy (64.9%) and weighted F1 (65.0%) — linear boundaries work well for separating sector ratio profiles.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7589520" y="3182112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589520" y="3182112"/>
            <a:ext cx="91440" cy="1234440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3364992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0" y="33649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7× baseline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772400" y="377647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Random-guess across 11 classes ≈ 9%. All four models beat that by 7×, confirming ratio-structure carries strong sector signal.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589520" y="4535424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589520" y="4535424"/>
            <a:ext cx="91440" cy="1234440"/>
          </a:xfrm>
          <a:prstGeom prst="rect">
            <a:avLst/>
          </a:prstGeom>
          <a:solidFill>
            <a:srgbClr val="E0565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4718304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229600" y="47183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8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models fail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7772400" y="5129784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Conglomerates (AMZN), transitioning retailers, and Financials' unusual balance sheets drive most confusion.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5897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driving classification:   PP&amp;E / Assets   •   Debt / Assets   •   Gross Margin   (via RF feature importance)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3" name="Text 1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DNA  |  BA870/AC820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002975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65760"/>
            <a:ext cx="109728" cy="109728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84269" y="868680"/>
            <a:ext cx="109728" cy="109728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09078" y="1371600"/>
            <a:ext cx="109728" cy="109728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864367" y="1874520"/>
            <a:ext cx="109728" cy="109728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71165" y="2377440"/>
            <a:ext cx="109728" cy="109728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0338" y="2880360"/>
            <a:ext cx="109728" cy="109728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9852" y="3383280"/>
            <a:ext cx="109728" cy="109728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9298" y="3886200"/>
            <a:ext cx="109728" cy="109728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17748" y="4389120"/>
            <a:ext cx="109728" cy="109728"/>
          </a:xfrm>
          <a:prstGeom prst="ellipse">
            <a:avLst/>
          </a:prstGeom>
          <a:solidFill>
            <a:srgbClr val="00B4A6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54790" y="4892040"/>
            <a:ext cx="109728" cy="109728"/>
          </a:xfrm>
          <a:prstGeom prst="ellipse">
            <a:avLst/>
          </a:prstGeom>
          <a:solidFill>
            <a:srgbClr val="00B4A6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88939" y="5394960"/>
            <a:ext cx="109728" cy="109728"/>
          </a:xfrm>
          <a:prstGeom prst="ellipse">
            <a:avLst/>
          </a:prstGeom>
          <a:solidFill>
            <a:srgbClr val="00B4A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910072" y="5897880"/>
            <a:ext cx="109728" cy="109728"/>
          </a:xfrm>
          <a:prstGeom prst="ellipse">
            <a:avLst/>
          </a:prstGeom>
          <a:solidFill>
            <a:srgbClr val="00B4A6">
              <a:alpha val="3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4592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645920" y="8229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statements are a behavioral signature.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3703320" cy="2560320"/>
          </a:xfrm>
          <a:prstGeom prst="rect">
            <a:avLst/>
          </a:prstGeom>
          <a:solidFill>
            <a:srgbClr val="0F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194560"/>
            <a:ext cx="370332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468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2880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leverage scales costlessly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" y="3611880"/>
            <a:ext cx="731520" cy="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gross margin (~65%) • low inventory • asset-light PP&amp;E (~10%)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44568" y="2194560"/>
            <a:ext cx="3703320" cy="2560320"/>
          </a:xfrm>
          <a:prstGeom prst="rect">
            <a:avLst/>
          </a:prstGeom>
          <a:solidFill>
            <a:srgbClr val="0F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44568" y="2194560"/>
            <a:ext cx="370332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4" name="Text 22"/>
          <p:cNvSpPr/>
          <p:nvPr/>
        </p:nvSpPr>
        <p:spPr>
          <a:xfrm>
            <a:off x="4818888" y="2468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18888" y="2880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Capex-heavy, regulated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818888" y="3611880"/>
            <a:ext cx="731520" cy="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PP&amp;E (~55%) • high Debt/Assets (~70%) • steady margins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449056" y="2194560"/>
            <a:ext cx="3703320" cy="2560320"/>
          </a:xfrm>
          <a:prstGeom prst="rect">
            <a:avLst/>
          </a:prstGeom>
          <a:solidFill>
            <a:srgbClr val="0F2847"/>
          </a:solidFill>
          <a:ln w="12700">
            <a:solidFill>
              <a:srgbClr val="00B4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49056" y="2194560"/>
            <a:ext cx="370332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0" name="Text 28"/>
          <p:cNvSpPr/>
          <p:nvPr/>
        </p:nvSpPr>
        <p:spPr>
          <a:xfrm>
            <a:off x="8723376" y="246888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23376" y="28803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Leverage IS the business model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723376" y="3611880"/>
            <a:ext cx="731520" cy="0"/>
          </a:xfrm>
          <a:prstGeom prst="line">
            <a:avLst/>
          </a:prstGeom>
          <a:noFill/>
          <a:ln w="19050">
            <a:solidFill>
              <a:srgbClr val="00B4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23376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Debt/Assets (~85%) • tiny inventory • minimal PP&amp;E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0" y="5212080"/>
            <a:ext cx="12191695" cy="1645920"/>
          </a:xfrm>
          <a:prstGeom prst="rect">
            <a:avLst/>
          </a:prstGeom>
          <a:solidFill>
            <a:srgbClr val="0F2847"/>
          </a:solidFill>
          <a:ln/>
        </p:spPr>
      </p:sp>
      <p:sp>
        <p:nvSpPr>
          <p:cNvPr id="35" name="Shape 33"/>
          <p:cNvSpPr/>
          <p:nvPr/>
        </p:nvSpPr>
        <p:spPr>
          <a:xfrm>
            <a:off x="0" y="5212080"/>
            <a:ext cx="12191695" cy="73152"/>
          </a:xfrm>
          <a:prstGeom prst="rect">
            <a:avLst/>
          </a:prstGeom>
          <a:solidFill>
            <a:srgbClr val="F5B400"/>
          </a:solidFill>
          <a:ln/>
        </p:spPr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40680"/>
            <a:ext cx="1188720" cy="118872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2011680" y="5532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8" name="Text 35"/>
          <p:cNvSpPr/>
          <p:nvPr/>
        </p:nvSpPr>
        <p:spPr>
          <a:xfrm>
            <a:off x="2011680" y="6217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Howard Mckeon · Joshua Hartono · Adam Schuler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DNA</dc:title>
  <dc:subject>PptxGenJS Presentation</dc:subject>
  <dc:creator>Howard Mckeon, Joshua Hartono, Adam Schuler</dc:creator>
  <cp:lastModifiedBy>Howard Mckeon, Joshua Hartono, Adam Schuler</cp:lastModifiedBy>
  <cp:revision>1</cp:revision>
  <dcterms:created xsi:type="dcterms:W3CDTF">2026-04-16T19:49:20Z</dcterms:created>
  <dcterms:modified xsi:type="dcterms:W3CDTF">2026-04-16T19:49:20Z</dcterms:modified>
</cp:coreProperties>
</file>